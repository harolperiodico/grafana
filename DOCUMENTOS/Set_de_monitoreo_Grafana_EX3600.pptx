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317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completa del set de monitoreo en Grafana para el EX3600: 28 sets sobre 5 sistemas. 16 terminados (57%), 4 en proceso y 8 pendientes con fecha objetivo 30-08-2026. Las columnas de Interpretación y Salida del documento fuente se resumen en la diapositiva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originales de los dashboards de Grafana ya en producción. Para reemplazar una imagen: clic derecho sobre ella &gt; Cambiar imagen.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Lubricación y control de velocidad del aditamento terminados; contra traslación y ratio de traslación en proceso al 06-08-2026.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hallazgos y acciones mostrados provienen de la columna SALIDA del documento Set de monitoreo - Grafana.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del set de monitoreo — Grafana · EX3600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plan al 07-08-2026 · 28 sets de monitoreo definidos sobre 6 sistemas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863840" y="256032"/>
            <a:ext cx="1216152" cy="731520"/>
          </a:xfrm>
          <a:prstGeom prst="roundRect">
            <a:avLst>
              <a:gd name="adj" fmla="val 75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30175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863840" y="64922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Terminado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89720" y="256032"/>
            <a:ext cx="1216152" cy="731520"/>
          </a:xfrm>
          <a:prstGeom prst="roundRect">
            <a:avLst>
              <a:gd name="adj" fmla="val 75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89720" y="30175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89720" y="64922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515600" y="256032"/>
            <a:ext cx="1216152" cy="731520"/>
          </a:xfrm>
          <a:prstGeom prst="roundRect">
            <a:avLst>
              <a:gd name="adj" fmla="val 75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0" y="30175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0" y="64922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133856"/>
            <a:ext cx="6442601" cy="155448"/>
          </a:xfrm>
          <a:prstGeom prst="rect">
            <a:avLst/>
          </a:prstGeom>
          <a:solidFill>
            <a:srgbClr val="4CC96A"/>
          </a:solidFill>
          <a:ln w="3175">
            <a:solidFill>
              <a:srgbClr val="4CC9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99801" y="1133856"/>
            <a:ext cx="1610650" cy="155448"/>
          </a:xfrm>
          <a:prstGeom prst="rect">
            <a:avLst/>
          </a:prstGeom>
          <a:solidFill>
            <a:srgbClr val="F2A93B"/>
          </a:solidFill>
          <a:ln w="3175">
            <a:solidFill>
              <a:srgbClr val="F2A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0451" y="1133856"/>
            <a:ext cx="3221301" cy="155448"/>
          </a:xfrm>
          <a:prstGeom prst="rect">
            <a:avLst/>
          </a:prstGeom>
          <a:solidFill>
            <a:srgbClr val="3A4250"/>
          </a:solidFill>
          <a:ln w="3175">
            <a:solidFill>
              <a:srgbClr val="3A42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316736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57 % del set de monitoreo ya implementado y validado en Grafana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503790"/>
              </p:ext>
            </p:extLst>
          </p:nvPr>
        </p:nvGraphicFramePr>
        <p:xfrm>
          <a:off x="457200" y="1572768"/>
          <a:ext cx="11274552" cy="510407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DE MEDIDA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31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ELÉCTRICO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BATERÍAS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de baterías / RPM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Voltaje (V)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BATERÍAS  / ALTERNADOR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Funcionamiento del alternador bajo carga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Voltaje (V)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BATERÍAS ALARMA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 de batería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Booleana (ON / OFF)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 COMBUSTIBLE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 de nivel de combustible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Booleana (ON / OFF)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BOYA COMBUSTIBLE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 real de combustible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DGE (°)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CONTAMINACIÓN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 detectores magnéticos (Bombas 1-8, Motores giro 1-4, Center Joint)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Booleana (ON / OFF)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DRENAJE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drenaje de carcasa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REGULACIÓN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control de ángulo de plato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DESCARGA DE BOMBAS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principal de entrega (Bombas 1-8)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ENFRIADORES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de temperatura (Entrada vs Salida)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(°C)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proceso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27-07-2026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RETORNO ENFRIADORES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línea de retorno a tanque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proceso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27-07-2026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CÁRTER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Cárter (Blow-by)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(kPa)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DE ESCAPE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de Gases de Escape (EGT) por bancada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(°C)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ACEITE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aceite de motor vs RPM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(kPa)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ADMISIÓN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del múltiple de admisión (Boost Pressure)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(kPa)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REFRIGERACIÓN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de refrigerante (Jacket Water)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(°C)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SUMINISTRO DE COMBUSTIBLE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entrega de combustible (Fuel Lift Pump)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(kPa)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LUBRICACIÓN TRANSMISIÓN DE BOMBAS (PTO)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de aceite del 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Temperatura (°C)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 DE NIVEL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aceite del 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Booleana (ON / OFF)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30-06-2026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BOMBAS DE GRASA (1 ó 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Alternancia y estado de operación de bombas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Booleana (ON / OFF)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27-07-2026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DE PRESURIZACIÓN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de trabajo vs. tiempo de reposo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(s / min)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27-07-2026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SELECTOR DE INTERVALO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frecuencia de engrase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(3, 5, 10 min)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27-07-2026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VARILLAJE (Boom, Brazo, Cucharón)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Histéresis en sensores de ángulo / presión de cilindros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Grados (°) / MPa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CONTROL DE VELOCIDAD (Angulo)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Grados del movimiento de Boom, Brazo y Cucharón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DGE (°)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4CC9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RALENTÍ (IDLE TIME)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RPM del motor vs presión piloto (actividad)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 /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GIRO LH/RH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piloto (LH/RH) vs presión principal de giro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E8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 TRASLACIÓN LH/RH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piloto avance y retroceso (Forward/Backward)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proceso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67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TRASLACIÓN 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de traslación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(MPa)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proceso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B96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06-08-2026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C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implementados — Sistema Eléctrico e Hidráulico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 11 sets terminados · Cada panel lleva sus umbrales punteados: el hallazgo se detecta por cruce del límite crítico, no por revisión del dato crudo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 · BATERÍAS — Carga de baterías vs RPM (umbrales 24 V / 26 V / 28 V, ventana de 24 h, equipos I40 e I50)</a:t>
            </a:r>
            <a:endParaRPr lang="en-US" sz="1100" dirty="0"/>
          </a:p>
        </p:txBody>
      </p:sp>
      <p:pic>
        <p:nvPicPr>
          <p:cNvPr id="5" name="Image 0" descr="img/bate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6736"/>
            <a:ext cx="11274552" cy="19039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16736"/>
            <a:ext cx="11274552" cy="1903971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3649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ELÉCTRICO · COMBUSTIBLE — Alarmas de nivel, porcentaje real, boya y switch</a:t>
            </a:r>
            <a:endParaRPr lang="en-US" sz="1100" dirty="0"/>
          </a:p>
        </p:txBody>
      </p:sp>
      <p:pic>
        <p:nvPicPr>
          <p:cNvPr id="8" name="Image 1" descr="img/combusti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21024"/>
            <a:ext cx="7680960" cy="247948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3621024"/>
            <a:ext cx="7680960" cy="2479489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503920" y="33649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HIDRÁULICO · CONTAMINACIÓN Y DRENAJE</a:t>
            </a:r>
            <a:endParaRPr lang="en-US" sz="1100" dirty="0"/>
          </a:p>
        </p:txBody>
      </p:sp>
      <p:pic>
        <p:nvPicPr>
          <p:cNvPr id="11" name="Image 2" descr="img/contamin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621024"/>
            <a:ext cx="3227832" cy="251643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03920" y="3621024"/>
            <a:ext cx="3227832" cy="2516436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implementados — Lubricación, Operación y Traslación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sets terminados y 2 en proceso · Capturas reales de Grafana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74651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LUBRICACIÓN — Alternancia de bombas de grasa, alarmas de nivel y timer de engrase</a:t>
            </a:r>
            <a:endParaRPr lang="en-US" sz="1100" dirty="0"/>
          </a:p>
        </p:txBody>
      </p:sp>
      <p:pic>
        <p:nvPicPr>
          <p:cNvPr id="5" name="Image 0" descr="img/lubr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7465162" cy="20324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53312"/>
            <a:ext cx="7465162" cy="2032443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8122" y="1097280"/>
            <a:ext cx="34454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— Control de velocidad del aditamento</a:t>
            </a:r>
            <a:endParaRPr lang="en-US" sz="1100" dirty="0"/>
          </a:p>
        </p:txBody>
      </p:sp>
      <p:pic>
        <p:nvPicPr>
          <p:cNvPr id="8" name="Image 1" descr="img/aditam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122" y="1353312"/>
            <a:ext cx="3445459" cy="20329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88122" y="1353312"/>
            <a:ext cx="3445459" cy="2032959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65276" y="35844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· TRASLACIÓN — Ratio de traslación avance y retroceso (LH vs RH): la asimetría revela desgaste o frenos que no liberan</a:t>
            </a:r>
            <a:endParaRPr lang="en-US" sz="1100" dirty="0"/>
          </a:p>
        </p:txBody>
      </p:sp>
      <p:pic>
        <p:nvPicPr>
          <p:cNvPr id="11" name="Image 2" descr="img/trasl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" y="3840480"/>
            <a:ext cx="10058400" cy="239679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65276" y="3840480"/>
            <a:ext cx="10058400" cy="2396797"/>
          </a:xfrm>
          <a:prstGeom prst="rect">
            <a:avLst/>
          </a:prstGeom>
          <a:ln w="9525">
            <a:solidFill>
              <a:srgbClr val="2C333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monitoreo — Informe a Confiabilidad y generación de 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en Grafana a la orden de trabajo ejecutable en campo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33856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19786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5216" y="14173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5216" y="16367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Grafana por sistema, set y equipo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 rot="5400000">
            <a:off x="2601468" y="1613916"/>
            <a:ext cx="109728" cy="137160"/>
          </a:xfrm>
          <a:prstGeom prst="triangle">
            <a:avLst/>
          </a:prstGeom>
          <a:solidFill>
            <a:srgbClr val="F2A93B"/>
          </a:solidFill>
          <a:ln w="3175">
            <a:solidFill>
              <a:srgbClr val="F2A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52344" y="1133856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9786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14173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16367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del límite crítico parametrizado en el panel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96612" y="1613916"/>
            <a:ext cx="109728" cy="137160"/>
          </a:xfrm>
          <a:prstGeom prst="triangle">
            <a:avLst/>
          </a:prstGeom>
          <a:solidFill>
            <a:srgbClr val="F2A93B"/>
          </a:solidFill>
          <a:ln w="3175">
            <a:solidFill>
              <a:srgbClr val="F2A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133856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119786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14173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5504" y="16367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con variable, evidencia gráfica y criticidad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91756" y="1613916"/>
            <a:ext cx="109728" cy="137160"/>
          </a:xfrm>
          <a:prstGeom prst="triangle">
            <a:avLst/>
          </a:prstGeom>
          <a:solidFill>
            <a:srgbClr val="F2A93B"/>
          </a:solidFill>
          <a:ln w="3175">
            <a:solidFill>
              <a:srgbClr val="F2A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2632" y="1133856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2A2113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70648" y="119786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70648" y="14173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TRABAJO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70648" y="16367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prioriza y genera la OT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9486900" y="1613916"/>
            <a:ext cx="109728" cy="137160"/>
          </a:xfrm>
          <a:prstGeom prst="triangle">
            <a:avLst/>
          </a:prstGeom>
          <a:solidFill>
            <a:srgbClr val="F2A93B"/>
          </a:solidFill>
          <a:ln w="3175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37776" y="1133856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1A1F28"/>
          </a:solidFill>
          <a:ln w="9525">
            <a:solidFill>
              <a:srgbClr val="2C33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65792" y="119786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65792" y="1417320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65792" y="1636776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Ejecución, verificación en el dashboard y realimentación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informe que recibe el área de Confiabilidad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79776"/>
          <a:ext cx="11274552" cy="3291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13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· 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 EN EL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SOLICITADA EN LA 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EX3600 · I38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Eléctrico · Baterías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Caídas de voltaje por debajo de 24 V con pérdida intermitente de telemetría por reinicio del ECM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test del banco de baterías. Revisión de densidad de electrolito, celdas internas y torque/limpieza de bornes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EX3600 · I45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Hidráulico · Drenaje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de carcasa sostenida por encima de 0,3 MPa bajo carga (exceso de fugas internas)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Aislar la bomba en plataforma y ejecutar Case Drain Flow Test para confirmar y programar el cambio preventivo (PCR)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EX3600 · I38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Hidráulico · Contaminación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Detectores magnéticos B_1 a B_4 en alarma continua: acumulación de limalla ferrosa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Estrategia Clean and Monitor: limpieza física de los sensores magnéticos e inspección de filtros de drenaje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EX3600 · I39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Lubricación · Ciclo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en ON mayor a 60 s: la bomba no alcanza los 3200 psi de corte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AA9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nivel del barril, purgar aire del sistema y seguir la línea principal buscando manguera reventada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EX3600 · I41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F2A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 · Traslación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de traslación asimétrico entre LH y RH al desplazarse en línea recta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5AA9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6CE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Drift Test, inspección del tren de rodaje (tensión de cadenas, rodillos) y presión de liberación de frenos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610819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se emite con la evidencia gráfica del dashboard adjunta. </a:t>
            </a:r>
            <a:r>
              <a:rPr lang="en-US" sz="105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valida el hallazgo, define la prioridad y genera la orden de trabajo en el sistema de mantenimiento; el cierre se verifica sobre el mismo panel de Grafana.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1162</Words>
  <Application>Microsoft Office PowerPoint</Application>
  <PresentationFormat>Panorámica</PresentationFormat>
  <Paragraphs>228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de monitoreo Grafana - EX3600</dc:title>
  <dc:subject>PptxGenJS Presentation</dc:subject>
  <dc:creator>Harol Díaz</dc:creator>
  <cp:lastModifiedBy>Harol Enrique Díaz Meléndez</cp:lastModifiedBy>
  <cp:revision>2</cp:revision>
  <dcterms:created xsi:type="dcterms:W3CDTF">2026-08-07T21:05:31Z</dcterms:created>
  <dcterms:modified xsi:type="dcterms:W3CDTF">2026-08-07T21:18:30Z</dcterms:modified>
</cp:coreProperties>
</file>